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jp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189E31EB-3B9C-893E-3D97-A6CE16C67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2252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305" y="0"/>
            <a:ext cx="12191695" cy="7022524"/>
          </a:xfrm>
          <a:prstGeom prst="rect">
            <a:avLst/>
          </a:prstGeom>
          <a:solidFill>
            <a:srgbClr val="00336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aseline="-25000" dirty="0"/>
          </a:p>
        </p:txBody>
      </p:sp>
      <p:sp>
        <p:nvSpPr>
          <p:cNvPr id="3" name="TextBox 2"/>
          <p:cNvSpPr txBox="1"/>
          <p:nvPr/>
        </p:nvSpPr>
        <p:spPr>
          <a:xfrm>
            <a:off x="2243463" y="690986"/>
            <a:ext cx="7321171" cy="7135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4400" b="1" dirty="0">
                <a:solidFill>
                  <a:srgbClr val="FFFFFF"/>
                </a:solidFill>
                <a:latin typeface="Source Sans Pro"/>
              </a:rPr>
              <a:t>Phishing Awareness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4525" y="1383515"/>
            <a:ext cx="5981061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0"/>
              </a:spcAft>
            </a:pPr>
            <a:r>
              <a:rPr sz="2400" b="0" dirty="0">
                <a:solidFill>
                  <a:srgbClr val="E0F2FF"/>
                </a:solidFill>
                <a:latin typeface="Source Sans Pro"/>
              </a:rPr>
              <a:t>Understanding Phishing Attacks &amp;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23655" y="3877317"/>
            <a:ext cx="2125838" cy="3329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4DB8FF"/>
                </a:solidFill>
                <a:latin typeface="Source Sans Pro"/>
              </a:rPr>
              <a:t>Name:</a:t>
            </a:r>
            <a:r>
              <a:rPr sz="1600" b="0" dirty="0">
                <a:solidFill>
                  <a:srgbClr val="E0F2FF"/>
                </a:solidFill>
                <a:latin typeface="Source Sans Pro"/>
              </a:rPr>
              <a:t> Zain </a:t>
            </a:r>
            <a:r>
              <a:rPr sz="1600" b="0" dirty="0" err="1">
                <a:solidFill>
                  <a:srgbClr val="E0F2FF"/>
                </a:solidFill>
                <a:latin typeface="Source Sans Pro"/>
              </a:rPr>
              <a:t>Ul</a:t>
            </a:r>
            <a:r>
              <a:rPr sz="1600" b="0" dirty="0">
                <a:solidFill>
                  <a:srgbClr val="E0F2FF"/>
                </a:solidFill>
                <a:latin typeface="Source Sans Pro"/>
              </a:rPr>
              <a:t> Abideen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0752" y="4165469"/>
            <a:ext cx="2132251" cy="36625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4DB8FF"/>
                </a:solidFill>
                <a:latin typeface="Source Sans Pro"/>
              </a:rPr>
              <a:t>Internship:</a:t>
            </a:r>
            <a:r>
              <a:rPr sz="1600" b="0">
                <a:solidFill>
                  <a:srgbClr val="E0F2FF"/>
                </a:solidFill>
                <a:latin typeface="Source Sans Pro"/>
              </a:rPr>
              <a:t> CodeAlpha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3157" y="4484123"/>
            <a:ext cx="2127442" cy="36625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4DB8FF"/>
                </a:solidFill>
                <a:latin typeface="Source Sans Pro"/>
              </a:rPr>
              <a:t>Domain:</a:t>
            </a:r>
            <a:r>
              <a:rPr sz="1600" b="0" dirty="0">
                <a:solidFill>
                  <a:srgbClr val="E0F2FF"/>
                </a:solidFill>
                <a:latin typeface="Source Sans Pro"/>
              </a:rPr>
              <a:t>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17503"/>
            <a:ext cx="3752887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200" b="1">
                <a:solidFill>
                  <a:srgbClr val="003366"/>
                </a:solidFill>
                <a:latin typeface="Source Sans Pro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82451"/>
            <a:ext cx="4525534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b="0">
                <a:solidFill>
                  <a:srgbClr val="0066CC"/>
                </a:solidFill>
                <a:latin typeface="Source Sans Pro"/>
              </a:rPr>
              <a:t>By the end of this training, you will be able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636001"/>
            <a:ext cx="2844177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Understand what phishing is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712595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2064627"/>
            <a:ext cx="5006627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Identify phishing emails, SMS, calls, and fake websites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150745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493252"/>
            <a:ext cx="3858877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Recognize social engineering techniques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56984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33" y="2921877"/>
            <a:ext cx="3341107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Apply best practices to stay secure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007995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3350502"/>
            <a:ext cx="3703386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dirty="0"/>
              <a:t>  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 Know how to report phishing incidents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427095"/>
            <a:ext cx="228594" cy="19430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524561" y="1904999"/>
            <a:ext cx="3809904" cy="38099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17503"/>
            <a:ext cx="3313664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200" b="1">
                <a:solidFill>
                  <a:srgbClr val="003366"/>
                </a:solidFill>
                <a:latin typeface="Source Sans Pro"/>
              </a:rPr>
              <a:t>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40193"/>
            <a:ext cx="5286242" cy="86286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950"/>
              </a:spcAft>
            </a:pPr>
            <a:r>
              <a:rPr sz="1600" b="0" dirty="0">
                <a:solidFill>
                  <a:srgbClr val="003366"/>
                </a:solidFill>
                <a:latin typeface="Source Sans Pro"/>
              </a:rPr>
              <a:t> Phishing is a cyberattack where attackers </a:t>
            </a:r>
            <a:r>
              <a:rPr sz="1600" b="1" dirty="0">
                <a:solidFill>
                  <a:srgbClr val="0066CC"/>
                </a:solidFill>
                <a:latin typeface="Source Sans Pro"/>
              </a:rPr>
              <a:t>impersonate trusted entities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 to steal sensitive information such as </a:t>
            </a:r>
            <a:r>
              <a:rPr sz="1600" b="1" dirty="0">
                <a:solidFill>
                  <a:srgbClr val="0066CC"/>
                </a:solidFill>
                <a:latin typeface="Source Sans Pro"/>
              </a:rPr>
              <a:t>passwords, OTPs, and banking details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2225451"/>
            <a:ext cx="3020314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b="1">
                <a:solidFill>
                  <a:srgbClr val="0066CC"/>
                </a:solidFill>
                <a:latin typeface="Source Sans Pro"/>
              </a:rPr>
              <a:t>Common phishing channels: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2636127"/>
            <a:ext cx="877291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Email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733417"/>
            <a:ext cx="209544" cy="1529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988551"/>
            <a:ext cx="1720471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 dirty="0"/>
              <a:t>  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 SMS (Smishing)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081208"/>
            <a:ext cx="209544" cy="181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3340977"/>
            <a:ext cx="2162900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Phone calls (Vishing)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3432604"/>
            <a:ext cx="209544" cy="1642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33" y="3693401"/>
            <a:ext cx="1597040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Fake websites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3786058"/>
            <a:ext cx="209544" cy="181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6733" y="4045826"/>
            <a:ext cx="2374496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Social media messages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" y="4128958"/>
            <a:ext cx="209544" cy="18123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38719" y="2352675"/>
            <a:ext cx="5286242" cy="291465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286726"/>
            <a:ext cx="3162982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600" b="1">
                <a:solidFill>
                  <a:srgbClr val="003366"/>
                </a:solidFill>
                <a:latin typeface="Source Sans Pro"/>
              </a:rPr>
              <a:t>Email Phishing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86242" cy="1171575"/>
          </a:xfrm>
          <a:prstGeom prst="roundRect">
            <a:avLst>
              <a:gd name="adj" fmla="val 650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46986" y="1662747"/>
            <a:ext cx="11715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TextBox 4"/>
          <p:cNvSpPr txBox="1"/>
          <p:nvPr/>
        </p:nvSpPr>
        <p:spPr>
          <a:xfrm>
            <a:off x="847703" y="1216903"/>
            <a:ext cx="992516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00" b="1">
                <a:solidFill>
                  <a:srgbClr val="0066CC"/>
                </a:solidFill>
                <a:latin typeface="Source Sans Pro"/>
              </a:rPr>
              <a:t>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03" y="1574070"/>
            <a:ext cx="4962400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03366"/>
                </a:solidFill>
                <a:latin typeface="Source Sans Pro"/>
              </a:rPr>
              <a:t>"Your email account will be suspended within 24 hours. Click the link to verify now."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2524387"/>
            <a:ext cx="1306704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000" b="1">
                <a:solidFill>
                  <a:srgbClr val="0066CC"/>
                </a:solidFill>
                <a:latin typeface="Source Sans Pro"/>
              </a:rPr>
              <a:t>Red Flags: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935064"/>
            <a:ext cx="2015424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Urgent language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047356"/>
            <a:ext cx="209544" cy="1727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33" y="3287488"/>
            <a:ext cx="2049087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Unknown sender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386008"/>
            <a:ext cx="209544" cy="181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3639914"/>
            <a:ext cx="1946495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Suspicious links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3756454"/>
            <a:ext cx="209544" cy="1642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6733" y="3992338"/>
            <a:ext cx="1999393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Generic greeting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4090858"/>
            <a:ext cx="209544" cy="18123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38719" y="2514600"/>
            <a:ext cx="5286242" cy="259079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286726"/>
            <a:ext cx="5171544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600" b="1">
                <a:solidFill>
                  <a:srgbClr val="003366"/>
                </a:solidFill>
                <a:latin typeface="Source Sans Pro"/>
              </a:rPr>
              <a:t>Smishing (SMS Phishing)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86242" cy="1171575"/>
          </a:xfrm>
          <a:prstGeom prst="roundRect">
            <a:avLst>
              <a:gd name="adj" fmla="val 650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46986" y="1662747"/>
            <a:ext cx="11715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TextBox 4"/>
          <p:cNvSpPr txBox="1"/>
          <p:nvPr/>
        </p:nvSpPr>
        <p:spPr>
          <a:xfrm>
            <a:off x="847703" y="1216903"/>
            <a:ext cx="992516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00" b="1">
                <a:solidFill>
                  <a:srgbClr val="0066CC"/>
                </a:solidFill>
                <a:latin typeface="Source Sans Pro"/>
              </a:rPr>
              <a:t>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03" y="1574070"/>
            <a:ext cx="4962400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03366"/>
                </a:solidFill>
                <a:latin typeface="Source Sans Pro"/>
              </a:rPr>
              <a:t>"Your bank card is blocked. Click here to reactivate immediately."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2524387"/>
            <a:ext cx="1834092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000" b="1">
                <a:solidFill>
                  <a:srgbClr val="0066CC"/>
                </a:solidFill>
                <a:latin typeface="Source Sans Pro"/>
              </a:rPr>
              <a:t>Warning Signs: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935064"/>
            <a:ext cx="1924053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Shortened links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082753"/>
            <a:ext cx="209544" cy="1019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33" y="3287488"/>
            <a:ext cx="2513958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Urgent action request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386008"/>
            <a:ext cx="209544" cy="181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3639914"/>
            <a:ext cx="2154885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Unknown number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3752206"/>
            <a:ext cx="209544" cy="17273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43631" y="1904999"/>
            <a:ext cx="2266893" cy="3809999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286726"/>
            <a:ext cx="5004832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600" b="1">
                <a:solidFill>
                  <a:srgbClr val="003366"/>
                </a:solidFill>
                <a:latin typeface="Source Sans Pro"/>
              </a:rPr>
              <a:t>Vishing (Voice Phishing)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86242" cy="1171575"/>
          </a:xfrm>
          <a:prstGeom prst="roundRect">
            <a:avLst>
              <a:gd name="adj" fmla="val 650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46986" y="1662747"/>
            <a:ext cx="11715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TextBox 4"/>
          <p:cNvSpPr txBox="1"/>
          <p:nvPr/>
        </p:nvSpPr>
        <p:spPr>
          <a:xfrm>
            <a:off x="847703" y="1216903"/>
            <a:ext cx="992516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00" b="1">
                <a:solidFill>
                  <a:srgbClr val="0066CC"/>
                </a:solidFill>
                <a:latin typeface="Source Sans Pro"/>
              </a:rPr>
              <a:t>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03" y="1574070"/>
            <a:ext cx="4962400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03366"/>
                </a:solidFill>
                <a:latin typeface="Source Sans Pro"/>
              </a:rPr>
              <a:t>"This is your bank's fraud department. Share your OTP to secure your account."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2524387"/>
            <a:ext cx="1834092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000" b="1">
                <a:solidFill>
                  <a:srgbClr val="0066CC"/>
                </a:solidFill>
                <a:latin typeface="Source Sans Pro"/>
              </a:rPr>
              <a:t>Warning Signs: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935064"/>
            <a:ext cx="2707921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Requests for OTP or PIN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074258"/>
            <a:ext cx="209544" cy="1189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33" y="3287488"/>
            <a:ext cx="2608535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Pressure or fear tactics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394504"/>
            <a:ext cx="209544" cy="1642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3639914"/>
            <a:ext cx="2786468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Caller claiming authority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3739463"/>
            <a:ext cx="209544" cy="19822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38719" y="2228850"/>
            <a:ext cx="5286242" cy="317182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255948"/>
            <a:ext cx="3372975" cy="7263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4000" b="1">
                <a:solidFill>
                  <a:srgbClr val="003366"/>
                </a:solidFill>
                <a:latin typeface="Source Sans Pro"/>
              </a:rPr>
              <a:t>Fake Websites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86242" cy="885825"/>
          </a:xfrm>
          <a:prstGeom prst="roundRect">
            <a:avLst>
              <a:gd name="adj" fmla="val 8602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289861" y="1519872"/>
            <a:ext cx="885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" name="TextBox 4"/>
          <p:cNvSpPr txBox="1"/>
          <p:nvPr/>
        </p:nvSpPr>
        <p:spPr>
          <a:xfrm>
            <a:off x="847703" y="1201515"/>
            <a:ext cx="1099916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b="1">
                <a:solidFill>
                  <a:srgbClr val="0066CC"/>
                </a:solidFill>
                <a:latin typeface="Source Sans Pro"/>
              </a:rPr>
              <a:t>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03" y="1558090"/>
            <a:ext cx="6046784" cy="36997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3366"/>
                </a:solidFill>
                <a:latin typeface="Source Sans Pro"/>
              </a:rPr>
              <a:t>Fake Microsoft login page using </a:t>
            </a:r>
            <a:r>
              <a:rPr sz="2000" b="1">
                <a:solidFill>
                  <a:srgbClr val="FF6B6B"/>
                </a:solidFill>
                <a:latin typeface="Source Sans Pro"/>
              </a:rPr>
              <a:t>micros0ft-login[.]com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2207860"/>
            <a:ext cx="3304046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400" b="1">
                <a:solidFill>
                  <a:srgbClr val="0066CC"/>
                </a:solidFill>
                <a:latin typeface="Source Sans Pro"/>
              </a:rPr>
              <a:t>Signs of Fake Websites: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633925"/>
            <a:ext cx="3208058" cy="41857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2000"/>
              <a:t>  </a:t>
            </a:r>
            <a:r>
              <a:rPr sz="2000" b="0">
                <a:solidFill>
                  <a:srgbClr val="003366"/>
                </a:solidFill>
                <a:latin typeface="Source Sans Pro"/>
              </a:rPr>
              <a:t> Misspelled domain names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760190"/>
            <a:ext cx="209544" cy="175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33" y="2986349"/>
            <a:ext cx="1507272" cy="41857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2000"/>
              <a:t>  </a:t>
            </a:r>
            <a:r>
              <a:rPr sz="2000" b="0">
                <a:solidFill>
                  <a:srgbClr val="003366"/>
                </a:solidFill>
                <a:latin typeface="Source Sans Pro"/>
              </a:rPr>
              <a:t> No HTTPS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154062"/>
            <a:ext cx="209544" cy="73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3338775"/>
            <a:ext cx="1701235" cy="41857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2000"/>
              <a:t>  </a:t>
            </a:r>
            <a:r>
              <a:rPr sz="2000" b="0">
                <a:solidFill>
                  <a:srgbClr val="003366"/>
                </a:solidFill>
                <a:latin typeface="Source Sans Pro"/>
              </a:rPr>
              <a:t> Poor design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3470704"/>
            <a:ext cx="209544" cy="1642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6733" y="3691199"/>
            <a:ext cx="4052841" cy="41857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2000"/>
              <a:t>  </a:t>
            </a:r>
            <a:r>
              <a:rPr sz="2000" b="0">
                <a:solidFill>
                  <a:srgbClr val="003366"/>
                </a:solidFill>
                <a:latin typeface="Source Sans Pro"/>
              </a:rPr>
              <a:t> Requests unnecessary credentials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3800861"/>
            <a:ext cx="209544" cy="18972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38719" y="2295525"/>
            <a:ext cx="5286242" cy="302895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286726"/>
            <a:ext cx="4559197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600" b="1">
                <a:solidFill>
                  <a:srgbClr val="003366"/>
                </a:solidFill>
                <a:latin typeface="Source Sans Pro"/>
              </a:rPr>
              <a:t>Social Media Phishing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86242" cy="1171575"/>
          </a:xfrm>
          <a:prstGeom prst="roundRect">
            <a:avLst>
              <a:gd name="adj" fmla="val 650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46986" y="1662747"/>
            <a:ext cx="11715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TextBox 4"/>
          <p:cNvSpPr txBox="1"/>
          <p:nvPr/>
        </p:nvSpPr>
        <p:spPr>
          <a:xfrm>
            <a:off x="847703" y="1216903"/>
            <a:ext cx="992516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00" b="1">
                <a:solidFill>
                  <a:srgbClr val="0066CC"/>
                </a:solidFill>
                <a:latin typeface="Source Sans Pro"/>
              </a:rPr>
              <a:t>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03" y="1574070"/>
            <a:ext cx="4962400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03366"/>
                </a:solidFill>
                <a:latin typeface="Source Sans Pro"/>
              </a:rPr>
              <a:t>"Congratulations! You are shortlisted for an interview. Click here for details."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2524387"/>
            <a:ext cx="2422394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000" b="1">
                <a:solidFill>
                  <a:srgbClr val="0066CC"/>
                </a:solidFill>
                <a:latin typeface="Source Sans Pro"/>
              </a:rPr>
              <a:t>Common Platforms: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935064"/>
            <a:ext cx="1249188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LinkedIn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051604"/>
            <a:ext cx="209544" cy="1642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33" y="3287488"/>
            <a:ext cx="1395062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Instagram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393088"/>
            <a:ext cx="209544" cy="167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3639914"/>
            <a:ext cx="1353384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t>  </a:t>
            </a:r>
            <a:r>
              <a:rPr b="0">
                <a:solidFill>
                  <a:srgbClr val="003366"/>
                </a:solidFill>
                <a:latin typeface="Source Sans Pro"/>
              </a:rPr>
              <a:t> Facebook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3747958"/>
            <a:ext cx="209544" cy="18123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67333" y="2371725"/>
            <a:ext cx="4429014" cy="2876549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17503"/>
            <a:ext cx="5666872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200" b="1">
                <a:solidFill>
                  <a:srgbClr val="003366"/>
                </a:solidFill>
                <a:latin typeface="Source Sans Pro"/>
              </a:rPr>
              <a:t>Social Engineering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10111"/>
            <a:ext cx="4714689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1950"/>
              </a:spcAft>
            </a:pPr>
            <a:r>
              <a:rPr b="0">
                <a:solidFill>
                  <a:srgbClr val="003366"/>
                </a:solidFill>
                <a:latin typeface="Source Sans Pro"/>
              </a:rPr>
              <a:t>Attackers manipulate human psychology using: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683627"/>
            <a:ext cx="4038413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 b="1">
                <a:solidFill>
                  <a:srgbClr val="0066CC"/>
                </a:solidFill>
                <a:latin typeface="Source Sans Pro"/>
              </a:rPr>
              <a:t>Authority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- Impersonating trusted figures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758315"/>
            <a:ext cx="228594" cy="2171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2064627"/>
            <a:ext cx="3320268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 b="1">
                <a:solidFill>
                  <a:srgbClr val="0066CC"/>
                </a:solidFill>
                <a:latin typeface="Source Sans Pro"/>
              </a:rPr>
              <a:t>Urgency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- Creating time pressure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2145030"/>
            <a:ext cx="228594" cy="2057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445626"/>
            <a:ext cx="3337901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 b="1">
                <a:solidFill>
                  <a:srgbClr val="0066CC"/>
                </a:solidFill>
                <a:latin typeface="Source Sans Pro"/>
              </a:rPr>
              <a:t>Fear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- Threatening consequences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2536031"/>
            <a:ext cx="228594" cy="1857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33" y="2826627"/>
            <a:ext cx="3427670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 b="1">
                <a:solidFill>
                  <a:srgbClr val="0066CC"/>
                </a:solidFill>
                <a:latin typeface="Source Sans Pro"/>
              </a:rPr>
              <a:t>Trust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- Building false relationships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2901315"/>
            <a:ext cx="228594" cy="2171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3207627"/>
            <a:ext cx="3600794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 b="1">
                <a:solidFill>
                  <a:srgbClr val="0066CC"/>
                </a:solidFill>
                <a:latin typeface="Source Sans Pro"/>
              </a:rPr>
              <a:t>Curiosity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 - Piquing interest with bait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" y="3302317"/>
            <a:ext cx="228594" cy="1771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38719" y="2105024"/>
            <a:ext cx="5286242" cy="340995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17503"/>
            <a:ext cx="5937779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200" b="1">
                <a:solidFill>
                  <a:srgbClr val="003366"/>
                </a:solidFill>
                <a:latin typeface="Source Sans Pro"/>
              </a:rPr>
              <a:t>Best Practices to Avoid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81350"/>
            <a:ext cx="726417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000" b="1">
                <a:solidFill>
                  <a:srgbClr val="0066CC"/>
                </a:solidFill>
                <a:latin typeface="Source Sans Pro"/>
              </a:rPr>
              <a:t> </a:t>
            </a:r>
            <a:r>
              <a:rPr sz="1600"/>
              <a:t>  </a:t>
            </a:r>
            <a:r>
              <a:rPr sz="2000" b="1">
                <a:solidFill>
                  <a:srgbClr val="0066CC"/>
                </a:solidFill>
                <a:latin typeface="Source Sans Pro"/>
              </a:rPr>
              <a:t>Do: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4812" y="1203500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158" y="1449945"/>
            <a:ext cx="2162900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>
              <a:spcBef>
                <a:spcPts val="0"/>
              </a:spcBef>
              <a:spcAft>
                <a:spcPts val="780"/>
              </a:spcAft>
            </a:pPr>
            <a:r>
              <a:rPr sz="1600" dirty="0"/>
              <a:t>  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Verify sender identity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61" y="1563914"/>
            <a:ext cx="209544" cy="1982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872" y="1833277"/>
            <a:ext cx="1726883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 dirty="0"/>
              <a:t>  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Hover over links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331" y="1987183"/>
            <a:ext cx="209544" cy="1019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872" y="2174795"/>
            <a:ext cx="3318665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 dirty="0"/>
              <a:t>  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Enable multi-factor authentication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961" y="2268822"/>
            <a:ext cx="209544" cy="1982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33" y="2536364"/>
            <a:ext cx="2292744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Keep systems updated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331" y="2650655"/>
            <a:ext cx="209544" cy="1982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6733" y="3214949"/>
            <a:ext cx="1048620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000" b="1">
                <a:solidFill>
                  <a:srgbClr val="0066CC"/>
                </a:solidFill>
                <a:latin typeface="Source Sans Pro"/>
              </a:rPr>
              <a:t> </a:t>
            </a:r>
            <a:r>
              <a:rPr sz="1600"/>
              <a:t>  </a:t>
            </a:r>
            <a:r>
              <a:rPr sz="2000" b="1">
                <a:solidFill>
                  <a:srgbClr val="0066CC"/>
                </a:solidFill>
                <a:latin typeface="Source Sans Pro"/>
              </a:rPr>
              <a:t>Don't: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739" y="3315942"/>
            <a:ext cx="266693" cy="2261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6733" y="3655302"/>
            <a:ext cx="2058705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Click unknown links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6733" y="3756454"/>
            <a:ext cx="209544" cy="1642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6733" y="4007726"/>
            <a:ext cx="2523576" cy="35702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/>
              <a:t>  </a:t>
            </a:r>
            <a:r>
              <a:rPr sz="1600" b="0">
                <a:solidFill>
                  <a:srgbClr val="003366"/>
                </a:solidFill>
                <a:latin typeface="Source Sans Pro"/>
              </a:rPr>
              <a:t>Share OTPs or passwords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6733" y="4082363"/>
            <a:ext cx="209544" cy="19822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552919" y="1357657"/>
            <a:ext cx="5286242" cy="3009900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890" y="315564"/>
            <a:ext cx="6492418" cy="5416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650"/>
              </a:spcAft>
            </a:pPr>
            <a:r>
              <a:rPr sz="2800" b="1" dirty="0">
                <a:solidFill>
                  <a:srgbClr val="003366"/>
                </a:solidFill>
                <a:latin typeface="Source Sans Pro"/>
              </a:rPr>
              <a:t>Knowledge Check – Match the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7062"/>
            <a:ext cx="5245282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000" b="0" dirty="0">
                <a:solidFill>
                  <a:srgbClr val="0066CC"/>
                </a:solidFill>
                <a:latin typeface="Source Sans Pro"/>
              </a:rPr>
              <a:t>Match the attack type with the correct example: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95449"/>
            <a:ext cx="5286242" cy="704849"/>
          </a:xfrm>
          <a:prstGeom prst="roundRect">
            <a:avLst>
              <a:gd name="adj" fmla="val 21621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6733" y="1869363"/>
            <a:ext cx="5286242" cy="357021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>
              <a:spcBef>
                <a:spcPts val="0"/>
              </a:spcBef>
              <a:spcAft>
                <a:spcPts val="1170"/>
              </a:spcAft>
            </a:pPr>
            <a:r>
              <a:rPr sz="11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 b="1" dirty="0">
                <a:solidFill>
                  <a:srgbClr val="0066CC"/>
                </a:solidFill>
                <a:latin typeface="Source Sans Pro"/>
              </a:rPr>
              <a:t> </a:t>
            </a:r>
            <a:r>
              <a:rPr sz="1600" dirty="0"/>
              <a:t>  </a:t>
            </a:r>
            <a:r>
              <a:rPr sz="1600" b="1" dirty="0">
                <a:solidFill>
                  <a:srgbClr val="0066CC"/>
                </a:solidFill>
                <a:latin typeface="Source Sans Pro"/>
              </a:rPr>
              <a:t>Smishing </a:t>
            </a:r>
            <a:r>
              <a:rPr sz="11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 dirty="0"/>
              <a:t>  </a:t>
            </a:r>
            <a:r>
              <a:rPr sz="11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lang="en-US" sz="1100" b="0" dirty="0">
                <a:solidFill>
                  <a:srgbClr val="003366"/>
                </a:solidFill>
                <a:latin typeface="Source Sans Pro"/>
              </a:rPr>
              <a:t>     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SMS saying your card is blocked</a:t>
            </a:r>
            <a:r>
              <a:rPr sz="1100" b="0" dirty="0">
                <a:solidFill>
                  <a:srgbClr val="003366"/>
                </a:solidFill>
                <a:latin typeface="Source Sans Pro"/>
              </a:rPr>
              <a:t>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531" y="1965006"/>
            <a:ext cx="228594" cy="1657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6733" y="2571750"/>
            <a:ext cx="5286242" cy="466724"/>
          </a:xfrm>
          <a:prstGeom prst="roundRect">
            <a:avLst>
              <a:gd name="adj" fmla="val 32653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733" y="2611214"/>
            <a:ext cx="4611849" cy="38779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>
              <a:spcBef>
                <a:spcPts val="0"/>
              </a:spcBef>
              <a:spcAft>
                <a:spcPts val="1170"/>
              </a:spcAft>
            </a:pPr>
            <a:r>
              <a:rPr sz="12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b="1" dirty="0">
                <a:solidFill>
                  <a:srgbClr val="0066CC"/>
                </a:solidFill>
                <a:latin typeface="Source Sans Pro"/>
              </a:rPr>
              <a:t> </a:t>
            </a:r>
            <a:r>
              <a:rPr dirty="0"/>
              <a:t>  </a:t>
            </a:r>
            <a:r>
              <a:rPr b="1" dirty="0">
                <a:solidFill>
                  <a:srgbClr val="0066CC"/>
                </a:solidFill>
                <a:latin typeface="Source Sans Pro"/>
              </a:rPr>
              <a:t>Vishing </a:t>
            </a:r>
            <a:r>
              <a:rPr sz="12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dirty="0"/>
              <a:t>  </a:t>
            </a:r>
            <a:r>
              <a:rPr sz="12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lang="en-US" sz="1200" b="0" dirty="0">
                <a:solidFill>
                  <a:srgbClr val="003366"/>
                </a:solidFill>
                <a:latin typeface="Source Sans Pro"/>
              </a:rPr>
              <a:t>       </a:t>
            </a:r>
            <a:r>
              <a:rPr b="0" dirty="0">
                <a:solidFill>
                  <a:srgbClr val="003366"/>
                </a:solidFill>
                <a:latin typeface="Source Sans Pro"/>
              </a:rPr>
              <a:t>Caller 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asking</a:t>
            </a:r>
            <a:r>
              <a:rPr b="0" dirty="0">
                <a:solidFill>
                  <a:srgbClr val="003366"/>
                </a:solidFill>
                <a:latin typeface="Source Sans Pro"/>
              </a:rPr>
              <a:t> for OTP</a:t>
            </a:r>
            <a:r>
              <a:rPr sz="1200" b="0" dirty="0">
                <a:solidFill>
                  <a:srgbClr val="003366"/>
                </a:solidFill>
                <a:latin typeface="Source Sans Pro"/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52971" y="2744152"/>
            <a:ext cx="228594" cy="1657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733" y="3209925"/>
            <a:ext cx="5286242" cy="704849"/>
          </a:xfrm>
          <a:prstGeom prst="roundRect">
            <a:avLst>
              <a:gd name="adj" fmla="val 21621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733" y="3368451"/>
            <a:ext cx="5286242" cy="38779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>
              <a:spcBef>
                <a:spcPts val="0"/>
              </a:spcBef>
              <a:spcAft>
                <a:spcPts val="1170"/>
              </a:spcAft>
            </a:pPr>
            <a:r>
              <a:rPr sz="11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 b="1" dirty="0">
                <a:solidFill>
                  <a:srgbClr val="0066CC"/>
                </a:solidFill>
                <a:latin typeface="Source Sans Pro"/>
              </a:rPr>
              <a:t> </a:t>
            </a:r>
            <a:r>
              <a:rPr sz="1600" dirty="0"/>
              <a:t>  </a:t>
            </a:r>
            <a:r>
              <a:rPr sz="1600" b="1" dirty="0">
                <a:solidFill>
                  <a:srgbClr val="0066CC"/>
                </a:solidFill>
                <a:latin typeface="Source Sans Pro"/>
              </a:rPr>
              <a:t>Fake Website </a:t>
            </a:r>
            <a:r>
              <a:rPr sz="11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lang="en-US" sz="1100" b="0" dirty="0">
                <a:solidFill>
                  <a:srgbClr val="003366"/>
                </a:solidFill>
                <a:latin typeface="Source Sans Pro"/>
              </a:rPr>
              <a:t>      </a:t>
            </a:r>
            <a:r>
              <a:rPr sz="1600" dirty="0"/>
              <a:t>  </a:t>
            </a:r>
            <a:r>
              <a:rPr sz="11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b="0" dirty="0">
                <a:solidFill>
                  <a:srgbClr val="003366"/>
                </a:solidFill>
                <a:latin typeface="Source Sans Pro"/>
              </a:rPr>
              <a:t>Fake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 login page stealing credentials</a:t>
            </a:r>
            <a:r>
              <a:rPr sz="1100" b="0" dirty="0">
                <a:solidFill>
                  <a:srgbClr val="003366"/>
                </a:solidFill>
                <a:latin typeface="Source Sans Pro"/>
              </a:rPr>
              <a:t>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7248" y="3479482"/>
            <a:ext cx="228594" cy="16573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6733" y="4086225"/>
            <a:ext cx="5286242" cy="704849"/>
          </a:xfrm>
          <a:prstGeom prst="roundRect">
            <a:avLst>
              <a:gd name="adj" fmla="val 21621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733" y="4265641"/>
            <a:ext cx="5286242" cy="38779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>
              <a:spcBef>
                <a:spcPts val="0"/>
              </a:spcBef>
              <a:spcAft>
                <a:spcPts val="1170"/>
              </a:spcAft>
            </a:pPr>
            <a:r>
              <a:rPr sz="12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b="1" dirty="0">
                <a:solidFill>
                  <a:srgbClr val="0066CC"/>
                </a:solidFill>
                <a:latin typeface="Source Sans Pro"/>
              </a:rPr>
              <a:t> </a:t>
            </a:r>
            <a:r>
              <a:rPr dirty="0"/>
              <a:t>  </a:t>
            </a:r>
            <a:r>
              <a:rPr sz="1600" b="1" dirty="0">
                <a:solidFill>
                  <a:srgbClr val="0066CC"/>
                </a:solidFill>
                <a:latin typeface="Source Sans Pro"/>
              </a:rPr>
              <a:t>Social Media Phishing </a:t>
            </a:r>
            <a:r>
              <a:rPr sz="11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sz="1600" dirty="0"/>
              <a:t>  </a:t>
            </a:r>
            <a:r>
              <a:rPr sz="11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lang="en-US" sz="1100" b="0" dirty="0">
                <a:solidFill>
                  <a:srgbClr val="003366"/>
                </a:solidFill>
                <a:latin typeface="Source Sans Pro"/>
              </a:rPr>
              <a:t>   </a:t>
            </a:r>
            <a:r>
              <a:rPr lang="en-US" sz="1050" b="0" dirty="0">
                <a:solidFill>
                  <a:srgbClr val="003366"/>
                </a:solidFill>
                <a:latin typeface="Source Sans Pro"/>
              </a:rPr>
              <a:t>    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Fake job/interview</a:t>
            </a:r>
            <a:r>
              <a:rPr lang="en-US" sz="1600" b="0" dirty="0">
                <a:solidFill>
                  <a:srgbClr val="003366"/>
                </a:solidFill>
                <a:latin typeface="Source Sans Pro"/>
              </a:rPr>
              <a:t> message               </a:t>
            </a:r>
            <a:r>
              <a:rPr sz="16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lang="en-US" sz="1600" b="0" dirty="0">
                <a:solidFill>
                  <a:srgbClr val="003366"/>
                </a:solidFill>
                <a:latin typeface="Source Sans Pro"/>
              </a:rPr>
              <a:t>                    </a:t>
            </a:r>
            <a:endParaRPr sz="1200" b="0" dirty="0">
              <a:solidFill>
                <a:srgbClr val="003366"/>
              </a:solidFill>
              <a:latin typeface="Source Sans Pro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99878" y="4407737"/>
            <a:ext cx="228594" cy="1657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66733" y="4962525"/>
            <a:ext cx="5286242" cy="466724"/>
          </a:xfrm>
          <a:prstGeom prst="roundRect">
            <a:avLst>
              <a:gd name="adj" fmla="val 32653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6733" y="5001989"/>
            <a:ext cx="4847930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170"/>
              </a:spcAft>
            </a:pPr>
            <a:r>
              <a:rPr sz="12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b="1" dirty="0">
                <a:solidFill>
                  <a:srgbClr val="0066CC"/>
                </a:solidFill>
                <a:latin typeface="Source Sans Pro"/>
              </a:rPr>
              <a:t> </a:t>
            </a:r>
            <a:r>
              <a:rPr dirty="0"/>
              <a:t>  </a:t>
            </a:r>
            <a:r>
              <a:rPr b="1" dirty="0">
                <a:solidFill>
                  <a:srgbClr val="0066CC"/>
                </a:solidFill>
                <a:latin typeface="Source Sans Pro"/>
              </a:rPr>
              <a:t>Email Phishing </a:t>
            </a:r>
            <a:r>
              <a:rPr sz="12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dirty="0"/>
              <a:t> </a:t>
            </a:r>
            <a:r>
              <a:rPr lang="en-US" dirty="0"/>
              <a:t>     </a:t>
            </a:r>
            <a:r>
              <a:rPr dirty="0"/>
              <a:t> </a:t>
            </a:r>
            <a:r>
              <a:rPr sz="12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b="0" dirty="0">
                <a:solidFill>
                  <a:srgbClr val="003366"/>
                </a:solidFill>
                <a:latin typeface="Source Sans Pro"/>
              </a:rPr>
              <a:t>Urgent verification email</a:t>
            </a:r>
            <a:r>
              <a:rPr sz="1200" b="0" dirty="0">
                <a:solidFill>
                  <a:srgbClr val="003366"/>
                </a:solidFill>
                <a:latin typeface="Source Sans Pro"/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23659" y="5113020"/>
            <a:ext cx="228594" cy="16573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38719" y="1871227"/>
            <a:ext cx="5286242" cy="352425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79058"/>
            <a:ext cx="4902239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400" b="1">
                <a:solidFill>
                  <a:srgbClr val="003366"/>
                </a:solidFill>
                <a:latin typeface="Source Sans Pro"/>
              </a:rPr>
              <a:t>Knowledge Check – Quick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2086840"/>
            <a:ext cx="10858228" cy="1228725"/>
          </a:xfrm>
          <a:prstGeom prst="roundRect">
            <a:avLst>
              <a:gd name="adj" fmla="val 12403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18411" y="2624771"/>
            <a:ext cx="1228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942951" y="2274176"/>
            <a:ext cx="1183273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1">
                <a:solidFill>
                  <a:srgbClr val="0066CC"/>
                </a:solidFill>
                <a:latin typeface="Source Sans Pro"/>
              </a:rPr>
              <a:t> </a:t>
            </a:r>
            <a:r>
              <a:rPr sz="1200"/>
              <a:t>  </a:t>
            </a:r>
            <a:r>
              <a:rPr sz="1600" b="1">
                <a:solidFill>
                  <a:srgbClr val="0066CC"/>
                </a:solidFill>
                <a:latin typeface="Source Sans Pro"/>
              </a:rPr>
              <a:t>Question: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0996" y="2344392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2951" y="2710311"/>
            <a:ext cx="980101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3366"/>
                </a:solidFill>
                <a:latin typeface="Source Sans Pro"/>
              </a:rPr>
              <a:t>You receive an urgent email from your bank asking you to click a link. What should you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0" y="3676649"/>
            <a:ext cx="3428914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ounded Rectangle 8"/>
          <p:cNvSpPr/>
          <p:nvPr/>
        </p:nvSpPr>
        <p:spPr>
          <a:xfrm>
            <a:off x="952476" y="38671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952476" y="3909916"/>
            <a:ext cx="235898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ource Sans Pr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338" y="3868514"/>
            <a:ext cx="1872564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Click immediately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390" y="3676649"/>
            <a:ext cx="3428914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ounded Rectangle 12"/>
          <p:cNvSpPr/>
          <p:nvPr/>
        </p:nvSpPr>
        <p:spPr>
          <a:xfrm>
            <a:off x="4571885" y="38671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571885" y="3909916"/>
            <a:ext cx="240707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ource Sans Pro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5747" y="3868514"/>
            <a:ext cx="1885388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Reply to the 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0799" y="3676649"/>
            <a:ext cx="3428914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ounded Rectangle 16"/>
          <p:cNvSpPr/>
          <p:nvPr/>
        </p:nvSpPr>
        <p:spPr>
          <a:xfrm>
            <a:off x="8191295" y="38671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8191295" y="3909916"/>
            <a:ext cx="237501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ource Sans Pro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5157" y="3868514"/>
            <a:ext cx="3001078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Visit official website manually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4819650"/>
            <a:ext cx="10858228" cy="723900"/>
          </a:xfrm>
          <a:prstGeom prst="roundRect">
            <a:avLst>
              <a:gd name="adj" fmla="val 21052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370823" y="511556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5036754"/>
            <a:ext cx="342891" cy="28969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81090" y="4987701"/>
            <a:ext cx="5072158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b="1" dirty="0">
                <a:solidFill>
                  <a:srgbClr val="0066CC"/>
                </a:solidFill>
                <a:latin typeface="Source Sans Pro"/>
              </a:rPr>
              <a:t>Correct Answer:</a:t>
            </a:r>
            <a:r>
              <a:rPr b="0" dirty="0">
                <a:solidFill>
                  <a:srgbClr val="003366"/>
                </a:solidFill>
                <a:latin typeface="Source Sans Pro"/>
              </a:rPr>
              <a:t> C - Visit official website manually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 dirty="0">
                <a:solidFill>
                  <a:srgbClr val="003366"/>
                </a:solidFill>
                <a:latin typeface="Source Sans Pro"/>
              </a:rPr>
              <a:t>How to Report Phishing (Workflow)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13228"/>
            <a:ext cx="4047839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625"/>
              </a:spcAft>
            </a:pPr>
            <a:r>
              <a:rPr sz="1400" b="1">
                <a:solidFill>
                  <a:srgbClr val="0066CC"/>
                </a:solidFill>
                <a:latin typeface="Source Sans Pro"/>
              </a:rPr>
              <a:t>Follow these steps when you encounter phishing: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47825"/>
            <a:ext cx="5286242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9604" y="17907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9604" y="1790700"/>
            <a:ext cx="34289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95367" y="1873567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6833" y="1773013"/>
            <a:ext cx="3304046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03366"/>
                </a:solidFill>
                <a:latin typeface="Source Sans Pro"/>
              </a:rPr>
              <a:t>Do not click links or attachments</a:t>
            </a:r>
            <a:endParaRPr sz="1196" dirty="0">
              <a:solidFill>
                <a:srgbClr val="003366"/>
              </a:solidFill>
              <a:latin typeface="Source Sans Pro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6733" y="2466975"/>
            <a:ext cx="5286242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9604" y="260985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604" y="2609850"/>
            <a:ext cx="34289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367" y="2672715"/>
            <a:ext cx="228594" cy="217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33" y="2592164"/>
            <a:ext cx="1886991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Take a screenshot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286125"/>
            <a:ext cx="5286242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604" y="34290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604" y="3429000"/>
            <a:ext cx="34289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367" y="3511867"/>
            <a:ext cx="228594" cy="177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33" y="3411314"/>
            <a:ext cx="2321405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Report to IT/SOC 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4105274"/>
            <a:ext cx="5286242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9604" y="424815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604" y="4248150"/>
            <a:ext cx="34289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5367" y="433101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66833" y="4230464"/>
            <a:ext cx="2024850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Delete the message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4924424"/>
            <a:ext cx="5286242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9604" y="5067299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604" y="5067299"/>
            <a:ext cx="34289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5367" y="5174456"/>
            <a:ext cx="228594" cy="12858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33" y="5049613"/>
            <a:ext cx="3514039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Change passwords if compromised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9027" y="1422168"/>
            <a:ext cx="5286242" cy="352425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79058"/>
            <a:ext cx="1651349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400" b="1">
                <a:solidFill>
                  <a:srgbClr val="003366"/>
                </a:solidFill>
                <a:latin typeface="Source Sans Pro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8164"/>
            <a:ext cx="4950522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dirty="0"/>
              <a:t>  </a:t>
            </a:r>
            <a:r>
              <a:rPr b="0" dirty="0">
                <a:solidFill>
                  <a:srgbClr val="003366"/>
                </a:solidFill>
                <a:latin typeface="Source Sans Pro"/>
              </a:rPr>
              <a:t> Phishing attacks are common but preventable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148714"/>
            <a:ext cx="228594" cy="2171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1481400"/>
            <a:ext cx="3874907" cy="41857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dirty="0"/>
              <a:t>  </a:t>
            </a:r>
            <a:r>
              <a:rPr sz="20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b="0" dirty="0">
                <a:solidFill>
                  <a:srgbClr val="003366"/>
                </a:solidFill>
                <a:latin typeface="Source Sans Pro"/>
              </a:rPr>
              <a:t>Awareness</a:t>
            </a:r>
            <a:r>
              <a:rPr sz="2000"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b="0" dirty="0">
                <a:solidFill>
                  <a:srgbClr val="003366"/>
                </a:solidFill>
                <a:latin typeface="Source Sans Pro"/>
              </a:rPr>
              <a:t>is the strongest defense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1606867"/>
            <a:ext cx="228594" cy="177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1925414"/>
            <a:ext cx="3286605" cy="38779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b="0" dirty="0">
                <a:solidFill>
                  <a:srgbClr val="003366"/>
                </a:solidFill>
                <a:latin typeface="Source Sans Pro"/>
              </a:rPr>
              <a:t> </a:t>
            </a:r>
            <a:r>
              <a:rPr dirty="0"/>
              <a:t>  </a:t>
            </a:r>
            <a:r>
              <a:rPr b="0" dirty="0">
                <a:solidFill>
                  <a:srgbClr val="003366"/>
                </a:solidFill>
                <a:latin typeface="Source Sans Pro"/>
              </a:rPr>
              <a:t> Always think before you click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764" y="2000250"/>
            <a:ext cx="188531" cy="228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6733" y="5774448"/>
            <a:ext cx="5286242" cy="723900"/>
          </a:xfrm>
          <a:prstGeom prst="roundRect">
            <a:avLst>
              <a:gd name="adj" fmla="val 21052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370823" y="6049009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327" y="5970204"/>
            <a:ext cx="342891" cy="2896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1090" y="5921151"/>
            <a:ext cx="2539413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66CC"/>
                </a:solidFill>
                <a:latin typeface="Source Sans Pro"/>
              </a:rPr>
              <a:t>Stay Alert. Stay Secure.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37" y="1365884"/>
            <a:ext cx="5286242" cy="373379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539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Ayesha Kashif</dc:creator>
  <cp:keywords/>
  <dc:description>generated using python-pptx</dc:description>
  <cp:lastModifiedBy>Ayesha Kashif</cp:lastModifiedBy>
  <cp:revision>4</cp:revision>
  <dcterms:created xsi:type="dcterms:W3CDTF">2013-01-27T09:14:16Z</dcterms:created>
  <dcterms:modified xsi:type="dcterms:W3CDTF">2025-12-24T10:33:38Z</dcterms:modified>
  <cp:category/>
</cp:coreProperties>
</file>